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Conceptual schematic, not to scale. No benchmark data encoded. Fixed weights with increasing KV cache. The worded proportional relation avoids font substitution for an unsupported symbol.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Conceptual schematic, not to scale. Arrow thickness is qualitative, not a measured ratio. Prefill and Decode GPU blocks have identical dimensions. All objects are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Editable schematic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Short context">
              <a:extLst>
                <a:ext uri="{FF2B5EF4-FFF2-40B4-BE49-F238E27FC236}">
                  <a16:creationId xmlns:a16="http://schemas.microsoft.com/office/drawing/2014/main" id="{83DBAC28-DB7E-4956-9FC3-3867AAEF1884}"/>
                </a:ext>
              </a:extLst>
            </p:cNvPr>
            <p:cNvSpPr>
              <a:spLocks noGrp="1"/>
            </p:cNvSpPr>
            <p:nvPr/>
          </p:nvSpPr>
          <p:spPr>
            <a:xfrm>
              <a:off x="971550" y="1866900"/>
              <a:ext cx="2095500" cy="6286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Short context</a:t>
              </a:r>
            </a:p>
          </p:txBody>
        </p:sp>
        <p:sp>
          <p:nvSpPr>
            <p:cNvPr id="2" name="Model Weights">
              <a:extLst>
                <a:ext uri="{FF2B5EF4-FFF2-40B4-BE49-F238E27FC236}">
                  <a16:creationId xmlns:a16="http://schemas.microsoft.com/office/drawing/2014/main" id="{E6698DFF-21BA-403E-BED9-E224D156B2F8}"/>
                </a:ext>
              </a:extLst>
            </p:cNvPr>
            <p:cNvSpPr>
              <a:spLocks noGrp="1"/>
            </p:cNvSpPr>
            <p:nvPr/>
          </p:nvSpPr>
          <p:spPr>
            <a:xfrm>
              <a:off x="3219450" y="1885950"/>
              <a:ext cx="2019300" cy="590550"/>
            </a:xfrm>
            <a:prstGeom prst="rect">
              <a:avLst/>
            </a:prstGeom>
            <a:solidFill>
              <a:srgbClr val="806589"/>
            </a:solidFill>
            <a:ln w="14288">
              <a:solidFill>
                <a:srgbClr val="343434"/>
              </a:solidFill>
            </a:ln>
          </p:spPr>
          <p:txBody>
            <a:bodyPr anchor="ctr">
              <a:noAutofit/>
            </a:bodyPr>
            <a:lstStyle/>
            <a:p>
              <a:pPr algn="ctr">
                <a:defRPr sz="1725" b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Model Weights</a:t>
              </a:r>
            </a:p>
          </p:txBody>
        </p:sp>
        <p:sp>
          <p:nvSpPr>
            <p:cNvPr id="3" name="KV Cache">
              <a:extLst>
                <a:ext uri="{FF2B5EF4-FFF2-40B4-BE49-F238E27FC236}">
                  <a16:creationId xmlns:a16="http://schemas.microsoft.com/office/drawing/2014/main" id="{37612DC8-90B1-442A-A864-337306EE371C}"/>
                </a:ext>
              </a:extLst>
            </p:cNvPr>
            <p:cNvSpPr>
              <a:spLocks noGrp="1"/>
            </p:cNvSpPr>
            <p:nvPr/>
          </p:nvSpPr>
          <p:spPr>
            <a:xfrm>
              <a:off x="5238750" y="1885950"/>
              <a:ext cx="1257300" cy="590550"/>
            </a:xfrm>
            <a:prstGeom prst="rect">
              <a:avLst/>
            </a:prstGeom>
            <a:solidFill>
              <a:srgbClr val="CC9658"/>
            </a:solidFill>
            <a:ln w="14288">
              <a:solidFill>
                <a:srgbClr val="343434"/>
              </a:solidFill>
            </a:ln>
          </p:spPr>
          <p:txBody>
            <a:bodyPr anchor="ctr">
              <a:noAutofit/>
            </a:bodyPr>
            <a:lstStyle/>
            <a:p>
              <a:pPr algn="ctr">
                <a:def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KV Cache</a:t>
              </a:r>
            </a:p>
          </p:txBody>
        </p:sp>
        <p:sp>
          <p:nvSpPr>
            <p:cNvPr id="4" name="Long context">
              <a:extLst>
                <a:ext uri="{FF2B5EF4-FFF2-40B4-BE49-F238E27FC236}">
                  <a16:creationId xmlns:a16="http://schemas.microsoft.com/office/drawing/2014/main" id="{7CED92DD-23CD-4EC4-9B01-EBE19DCDCC87}"/>
                </a:ext>
              </a:extLst>
            </p:cNvPr>
            <p:cNvSpPr>
              <a:spLocks noGrp="1"/>
            </p:cNvSpPr>
            <p:nvPr/>
          </p:nvSpPr>
          <p:spPr>
            <a:xfrm>
              <a:off x="971550" y="3067050"/>
              <a:ext cx="2095500" cy="6286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Long context</a:t>
              </a:r>
            </a:p>
          </p:txBody>
        </p:sp>
        <p:sp>
          <p:nvSpPr>
            <p:cNvPr id="5" name="Model Weights">
              <a:extLst>
                <a:ext uri="{FF2B5EF4-FFF2-40B4-BE49-F238E27FC236}">
                  <a16:creationId xmlns:a16="http://schemas.microsoft.com/office/drawing/2014/main" id="{3C708763-AEAE-4B9A-B483-32C3EF64632B}"/>
                </a:ext>
              </a:extLst>
            </p:cNvPr>
            <p:cNvSpPr>
              <a:spLocks noGrp="1"/>
            </p:cNvSpPr>
            <p:nvPr/>
          </p:nvSpPr>
          <p:spPr>
            <a:xfrm>
              <a:off x="3219450" y="3086100"/>
              <a:ext cx="2019300" cy="590550"/>
            </a:xfrm>
            <a:prstGeom prst="rect">
              <a:avLst/>
            </a:prstGeom>
            <a:solidFill>
              <a:srgbClr val="806589"/>
            </a:solidFill>
            <a:ln w="14288">
              <a:solidFill>
                <a:srgbClr val="343434"/>
              </a:solidFill>
            </a:ln>
          </p:spPr>
          <p:txBody>
            <a:bodyPr anchor="ctr">
              <a:noAutofit/>
            </a:bodyPr>
            <a:lstStyle/>
            <a:p>
              <a:pPr algn="ctr">
                <a:defRPr sz="1725" b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Model Weights</a:t>
              </a:r>
            </a:p>
          </p:txBody>
        </p:sp>
        <p:sp>
          <p:nvSpPr>
            <p:cNvPr id="6" name="KV Cache">
              <a:extLst>
                <a:ext uri="{FF2B5EF4-FFF2-40B4-BE49-F238E27FC236}">
                  <a16:creationId xmlns:a16="http://schemas.microsoft.com/office/drawing/2014/main" id="{BC7D4330-F8AA-49C3-9784-A6FBA10A7E15}"/>
                </a:ext>
              </a:extLst>
            </p:cNvPr>
            <p:cNvSpPr>
              <a:spLocks noGrp="1"/>
            </p:cNvSpPr>
            <p:nvPr/>
          </p:nvSpPr>
          <p:spPr>
            <a:xfrm>
              <a:off x="5238750" y="3086100"/>
              <a:ext cx="3048000" cy="590550"/>
            </a:xfrm>
            <a:prstGeom prst="rect">
              <a:avLst/>
            </a:prstGeom>
            <a:solidFill>
              <a:srgbClr val="CC9658"/>
            </a:solidFill>
            <a:ln w="14288">
              <a:solidFill>
                <a:srgbClr val="343434"/>
              </a:solidFill>
            </a:ln>
          </p:spPr>
          <p:txBody>
            <a:bodyPr anchor="ctr">
              <a:noAutofit/>
            </a:bodyPr>
            <a:lstStyle/>
            <a:p>
              <a:pPr algn="ctr">
                <a:def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KV Cache</a:t>
              </a:r>
            </a:p>
          </p:txBody>
        </p:sp>
        <p:sp>
          <p:nvSpPr>
            <p:cNvPr id="7" name="Long context&#10;+ high concurrency">
              <a:extLst>
                <a:ext uri="{FF2B5EF4-FFF2-40B4-BE49-F238E27FC236}">
                  <a16:creationId xmlns:a16="http://schemas.microsoft.com/office/drawing/2014/main" id="{56BD2E3D-AB9F-4C71-8D0A-DBD63ACF16F7}"/>
                </a:ext>
              </a:extLst>
            </p:cNvPr>
            <p:cNvSpPr>
              <a:spLocks noGrp="1"/>
            </p:cNvSpPr>
            <p:nvPr/>
          </p:nvSpPr>
          <p:spPr>
            <a:xfrm>
              <a:off x="971550" y="4267200"/>
              <a:ext cx="2095500" cy="6286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Long context</a:t>
              </a:r>
            </a:p>
            <a:p>
              <a:pPr algn="ctr">
                <a:def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+ high concurrency</a:t>
              </a:r>
            </a:p>
          </p:txBody>
        </p:sp>
        <p:sp>
          <p:nvSpPr>
            <p:cNvPr id="8" name="Model Weights">
              <a:extLst>
                <a:ext uri="{FF2B5EF4-FFF2-40B4-BE49-F238E27FC236}">
                  <a16:creationId xmlns:a16="http://schemas.microsoft.com/office/drawing/2014/main" id="{264F9BDA-C22C-420A-828A-1CB82BC56ED0}"/>
                </a:ext>
              </a:extLst>
            </p:cNvPr>
            <p:cNvSpPr>
              <a:spLocks noGrp="1"/>
            </p:cNvSpPr>
            <p:nvPr/>
          </p:nvSpPr>
          <p:spPr>
            <a:xfrm>
              <a:off x="3219450" y="4286250"/>
              <a:ext cx="2019300" cy="590550"/>
            </a:xfrm>
            <a:prstGeom prst="rect">
              <a:avLst/>
            </a:prstGeom>
            <a:solidFill>
              <a:srgbClr val="806589"/>
            </a:solidFill>
            <a:ln w="14288">
              <a:solidFill>
                <a:srgbClr val="343434"/>
              </a:solidFill>
            </a:ln>
          </p:spPr>
          <p:txBody>
            <a:bodyPr anchor="ctr">
              <a:noAutofit/>
            </a:bodyPr>
            <a:lstStyle/>
            <a:p>
              <a:pPr algn="ctr">
                <a:defRPr sz="1725" b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Model Weights</a:t>
              </a:r>
            </a:p>
          </p:txBody>
        </p:sp>
        <p:sp>
          <p:nvSpPr>
            <p:cNvPr id="9" name="KV Cache">
              <a:extLst>
                <a:ext uri="{FF2B5EF4-FFF2-40B4-BE49-F238E27FC236}">
                  <a16:creationId xmlns:a16="http://schemas.microsoft.com/office/drawing/2014/main" id="{3CF96364-9487-4304-8633-77FE0B634DAC}"/>
                </a:ext>
              </a:extLst>
            </p:cNvPr>
            <p:cNvSpPr>
              <a:spLocks noGrp="1"/>
            </p:cNvSpPr>
            <p:nvPr/>
          </p:nvSpPr>
          <p:spPr>
            <a:xfrm>
              <a:off x="5238750" y="4286250"/>
              <a:ext cx="3390900" cy="590550"/>
            </a:xfrm>
            <a:prstGeom prst="rect">
              <a:avLst/>
            </a:prstGeom>
            <a:solidFill>
              <a:srgbClr val="CC9658"/>
            </a:solidFill>
            <a:ln w="14288">
              <a:solidFill>
                <a:srgbClr val="343434"/>
              </a:solidFill>
            </a:ln>
          </p:spPr>
          <p:txBody>
            <a:bodyPr anchor="ctr">
              <a:noAutofit/>
            </a:bodyPr>
            <a:lstStyle/>
            <a:p>
              <a:pPr algn="ctr">
                <a:def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KV Cache</a:t>
              </a:r>
            </a:p>
          </p:txBody>
        </p:sp>
        <p:sp>
          <p:nvSpPr>
            <p:cNvPr id="10" name="Overflow segment">
              <a:extLst>
                <a:ext uri="{FF2B5EF4-FFF2-40B4-BE49-F238E27FC236}">
                  <a16:creationId xmlns:a16="http://schemas.microsoft.com/office/drawing/2014/main" id="{DA3A08B3-6814-424E-BBE8-DB6E36A764C8}"/>
                </a:ext>
              </a:extLst>
            </p:cNvPr>
            <p:cNvSpPr>
              <a:spLocks noGrp="1"/>
            </p:cNvSpPr>
            <p:nvPr/>
          </p:nvSpPr>
          <p:spPr>
            <a:xfrm>
              <a:off x="8629650" y="4286250"/>
              <a:ext cx="1276350" cy="590550"/>
            </a:xfrm>
            <a:prstGeom prst="rect">
              <a:avLst/>
            </a:prstGeom>
            <a:solidFill>
              <a:srgbClr val="EBD7BC"/>
            </a:solidFill>
            <a:ln w="14288">
              <a:solidFill>
                <a:srgbClr val="343434"/>
              </a:solidFill>
            </a:ln>
          </p:spPr>
        </p:sp>
        <p:sp>
          <p:nvSpPr>
            <p:cNvPr id="11" name="Overflow">
              <a:extLst>
                <a:ext uri="{FF2B5EF4-FFF2-40B4-BE49-F238E27FC236}">
                  <a16:creationId xmlns:a16="http://schemas.microsoft.com/office/drawing/2014/main" id="{48EE759A-DCE8-46CC-8380-D8360E746D99}"/>
                </a:ext>
              </a:extLst>
            </p:cNvPr>
            <p:cNvSpPr>
              <a:spLocks noGrp="1"/>
            </p:cNvSpPr>
            <p:nvPr/>
          </p:nvSpPr>
          <p:spPr>
            <a:xfrm>
              <a:off x="10096500" y="4286250"/>
              <a:ext cx="1143000" cy="5905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650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Overflow</a:t>
              </a:r>
            </a:p>
          </p:txBody>
        </p:sp>
        <p:sp>
          <p:nvSpPr>
            <p:cNvPr id="12" name="HBM capacity reference">
              <a:extLst>
                <a:ext uri="{FF2B5EF4-FFF2-40B4-BE49-F238E27FC236}">
                  <a16:creationId xmlns:a16="http://schemas.microsoft.com/office/drawing/2014/main" id="{8B2842CA-8893-4FE8-918F-1A4DB279F976}"/>
                </a:ext>
              </a:extLst>
            </p:cNvPr>
            <p:cNvSpPr>
              <a:spLocks noGrp="1"/>
            </p:cNvSpPr>
            <p:nvPr/>
          </p:nvSpPr>
          <p:spPr>
            <a:xfrm>
              <a:off x="8620125" y="1504950"/>
              <a:ext cx="19050" cy="3714750"/>
            </a:xfrm>
            <a:prstGeom prst="rect">
              <a:avLst/>
            </a:prstGeom>
            <a:solidFill>
              <a:srgbClr val="343434"/>
            </a:solidFill>
            <a:ln w="14288">
              <a:solidFill>
                <a:srgbClr val="343434"/>
              </a:solidFill>
            </a:ln>
          </p:spPr>
        </p:sp>
        <p:sp>
          <p:nvSpPr>
            <p:cNvPr id="13" name="HBM Capacity">
              <a:extLst>
                <a:ext uri="{FF2B5EF4-FFF2-40B4-BE49-F238E27FC236}">
                  <a16:creationId xmlns:a16="http://schemas.microsoft.com/office/drawing/2014/main" id="{287EA0DE-4FD7-437C-9D7B-D53CB6497C7B}"/>
                </a:ext>
              </a:extLst>
            </p:cNvPr>
            <p:cNvSpPr>
              <a:spLocks noGrp="1"/>
            </p:cNvSpPr>
            <p:nvPr/>
          </p:nvSpPr>
          <p:spPr>
            <a:xfrm>
              <a:off x="7524750" y="1066800"/>
              <a:ext cx="2190750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875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HBM Capacity</a:t>
              </a:r>
            </a:p>
          </p:txBody>
        </p:sp>
        <p:sp>
          <p:nvSpPr>
            <p:cNvPr id="14" name="KV Cache grows with Batch × Context Length">
              <a:extLst>
                <a:ext uri="{FF2B5EF4-FFF2-40B4-BE49-F238E27FC236}">
                  <a16:creationId xmlns:a16="http://schemas.microsoft.com/office/drawing/2014/main" id="{BF43F811-A278-45FA-9F89-382196B791D1}"/>
                </a:ext>
              </a:extLst>
            </p:cNvPr>
            <p:cNvSpPr>
              <a:spLocks noGrp="1"/>
            </p:cNvSpPr>
            <p:nvPr/>
          </p:nvSpPr>
          <p:spPr>
            <a:xfrm>
              <a:off x="3238500" y="5553075"/>
              <a:ext cx="6810375" cy="428625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KV Cache grows with Batch × Context Length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9737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Editable schematic"/>
          <p:cNvGrpSpPr/>
          <p:nvPr/>
        </p:nvGrpSpPr>
        <p:grpSpPr>
          <a:xfrm>
            <a:off x="1028700" y="1200150"/>
            <a:ext cx="9915525" cy="5324475"/>
            <a:chOff x="1028700" y="1200150"/>
            <a:chExt cx="9915525" cy="5324475"/>
          </a:xfrm>
        </p:grpSpPr>
        <p:sp>
          <p:nvSpPr>
            <p:cNvPr id="23" name="Prefill">
              <a:extLst>
                <a:ext uri="{FF2B5EF4-FFF2-40B4-BE49-F238E27FC236}">
                  <a16:creationId xmlns:a16="http://schemas.microsoft.com/office/drawing/2014/main" id="{F72D649F-0747-4EB8-AA8F-3B392B40A347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" y="1200150"/>
              <a:ext cx="1381125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2100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100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Prefill</a:t>
              </a:r>
            </a:p>
          </p:txBody>
        </p:sp>
        <p:sp>
          <p:nvSpPr>
            <p:cNvPr id="2" name="Prefill Memory">
              <a:extLst>
                <a:ext uri="{FF2B5EF4-FFF2-40B4-BE49-F238E27FC236}">
                  <a16:creationId xmlns:a16="http://schemas.microsoft.com/office/drawing/2014/main" id="{2CF25F61-241C-4AAD-A1DD-6391772C37A4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1666875"/>
              <a:ext cx="2114550" cy="1381125"/>
            </a:xfrm>
            <a:prstGeom prst="rect">
              <a:avLst/>
            </a:prstGeom>
            <a:solidFill>
              <a:srgbClr val="EAE2ED"/>
            </a:solidFill>
            <a:ln w="14288">
              <a:solidFill>
                <a:srgbClr val="343434"/>
              </a:solidFill>
            </a:ln>
          </p:spPr>
        </p:sp>
        <p:sp>
          <p:nvSpPr>
            <p:cNvPr id="3" name="Memory">
              <a:extLst>
                <a:ext uri="{FF2B5EF4-FFF2-40B4-BE49-F238E27FC236}">
                  <a16:creationId xmlns:a16="http://schemas.microsoft.com/office/drawing/2014/main" id="{98FEF2C1-69CA-4659-9E5E-5C58F7295732}"/>
                </a:ext>
              </a:extLst>
            </p:cNvPr>
            <p:cNvSpPr>
              <a:spLocks noGrp="1"/>
            </p:cNvSpPr>
            <p:nvPr/>
          </p:nvSpPr>
          <p:spPr>
            <a:xfrm>
              <a:off x="2647950" y="1714500"/>
              <a:ext cx="1733550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875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Memory</a:t>
              </a:r>
            </a:p>
          </p:txBody>
        </p:sp>
        <p:sp>
          <p:nvSpPr>
            <p:cNvPr id="4" name="Weights">
              <a:extLst>
                <a:ext uri="{FF2B5EF4-FFF2-40B4-BE49-F238E27FC236}">
                  <a16:creationId xmlns:a16="http://schemas.microsoft.com/office/drawing/2014/main" id="{27053AD3-FFA3-43C9-9651-4121D43FC035}"/>
                </a:ext>
              </a:extLst>
            </p:cNvPr>
            <p:cNvSpPr>
              <a:spLocks noGrp="1"/>
            </p:cNvSpPr>
            <p:nvPr/>
          </p:nvSpPr>
          <p:spPr>
            <a:xfrm>
              <a:off x="2628900" y="2286000"/>
              <a:ext cx="1009650" cy="48577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43434"/>
              </a:solidFill>
            </a:ln>
          </p:spPr>
          <p:txBody>
            <a:bodyPr anchor="ctr">
              <a:noAutofit/>
            </a:bodyPr>
            <a:lstStyle/>
            <a:p>
              <a:pPr algn="ctr">
                <a:defRPr sz="165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Weights</a:t>
              </a:r>
            </a:p>
          </p:txBody>
        </p:sp>
        <p:sp>
          <p:nvSpPr>
            <p:cNvPr id="5" name="KV">
              <a:extLst>
                <a:ext uri="{FF2B5EF4-FFF2-40B4-BE49-F238E27FC236}">
                  <a16:creationId xmlns:a16="http://schemas.microsoft.com/office/drawing/2014/main" id="{8EBC3F05-2DDD-4408-966A-5072E95FE34F}"/>
                </a:ext>
              </a:extLst>
            </p:cNvPr>
            <p:cNvSpPr>
              <a:spLocks noGrp="1"/>
            </p:cNvSpPr>
            <p:nvPr/>
          </p:nvSpPr>
          <p:spPr>
            <a:xfrm>
              <a:off x="3743325" y="2286000"/>
              <a:ext cx="647700" cy="48577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343434"/>
              </a:solidFill>
            </a:ln>
          </p:spPr>
          <p:txBody>
            <a:bodyPr anchor="ctr">
              <a:noAutofit/>
            </a:bodyPr>
            <a:lstStyle/>
            <a:p>
              <a:pPr algn="ctr">
                <a:defRPr sz="165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KV</a:t>
              </a:r>
            </a:p>
          </p:txBody>
        </p:sp>
        <p:sp>
          <p:nvSpPr>
            <p:cNvPr id="6" name="Prefill GPU">
              <a:extLst>
                <a:ext uri="{FF2B5EF4-FFF2-40B4-BE49-F238E27FC236}">
                  <a16:creationId xmlns:a16="http://schemas.microsoft.com/office/drawing/2014/main" id="{931945E6-B0A6-4D90-ABDC-1F512BA3D30F}"/>
                </a:ext>
              </a:extLst>
            </p:cNvPr>
            <p:cNvSpPr>
              <a:spLocks noGrp="1"/>
            </p:cNvSpPr>
            <p:nvPr/>
          </p:nvSpPr>
          <p:spPr>
            <a:xfrm>
              <a:off x="6115050" y="1666875"/>
              <a:ext cx="2266950" cy="1381125"/>
            </a:xfrm>
            <a:prstGeom prst="rect">
              <a:avLst/>
            </a:prstGeom>
            <a:solidFill>
              <a:srgbClr val="DFE9F1"/>
            </a:solidFill>
            <a:ln w="14288">
              <a:solidFill>
                <a:srgbClr val="343434"/>
              </a:solidFill>
            </a:ln>
          </p:spPr>
        </p:sp>
        <p:sp>
          <p:nvSpPr>
            <p:cNvPr id="7" name="GPU">
              <a:extLst>
                <a:ext uri="{FF2B5EF4-FFF2-40B4-BE49-F238E27FC236}">
                  <a16:creationId xmlns:a16="http://schemas.microsoft.com/office/drawing/2014/main" id="{7A10112E-0F93-4A1D-B208-D390310C2DC3}"/>
                </a:ext>
              </a:extLst>
            </p:cNvPr>
            <p:cNvSpPr>
              <a:spLocks noGrp="1"/>
            </p:cNvSpPr>
            <p:nvPr/>
          </p:nvSpPr>
          <p:spPr>
            <a:xfrm>
              <a:off x="6210300" y="1724025"/>
              <a:ext cx="2076450" cy="333375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950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0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GPU</a:t>
              </a:r>
            </a:p>
          </p:txBody>
        </p:sp>
        <p:sp>
          <p:nvSpPr>
            <p:cNvPr id="8" name="Matrix–Matrix&#10;Compute">
              <a:extLst>
                <a:ext uri="{FF2B5EF4-FFF2-40B4-BE49-F238E27FC236}">
                  <a16:creationId xmlns:a16="http://schemas.microsoft.com/office/drawing/2014/main" id="{D093420D-C37D-4C59-9EC3-19EDD51E27A9}"/>
                </a:ext>
              </a:extLst>
            </p:cNvPr>
            <p:cNvSpPr>
              <a:spLocks noGrp="1"/>
            </p:cNvSpPr>
            <p:nvPr/>
          </p:nvSpPr>
          <p:spPr>
            <a:xfrm>
              <a:off x="6210300" y="2133600"/>
              <a:ext cx="2076450" cy="7810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Matrix–Matrix</a:t>
              </a:r>
            </a:p>
            <a:p>
              <a:pPr algn="ctr">
                <a:def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Compute</a:t>
              </a:r>
            </a:p>
          </p:txBody>
        </p:sp>
        <p:cxnSp>
          <p:nvCxnSpPr>
            <p:cNvPr id="31" name="直接箭头连接符 30"/>
            <p:cNvCxnSpPr>
              <a:stCxn id="2" idx="3"/>
              <a:endCxn id="6" idx="1"/>
            </p:cNvCxnSpPr>
            <p:nvPr/>
          </p:nvCxnSpPr>
          <p:spPr>
            <a:xfrm>
              <a:off x="4572000" y="2357438"/>
              <a:ext cx="1543050" cy="0"/>
            </a:xfrm>
            <a:prstGeom prst="straightConnector1">
              <a:avLst/>
            </a:prstGeom>
            <a:ln w="16193">
              <a:solidFill>
                <a:srgbClr val="CC9658"/>
              </a:solidFill>
              <a:tailEnd type="triangle" w="med" len="med"/>
            </a:ln>
          </p:spPr>
        </p:cxnSp>
        <p:sp>
          <p:nvSpPr>
            <p:cNvPr id="10" name="High data reuse">
              <a:extLst>
                <a:ext uri="{FF2B5EF4-FFF2-40B4-BE49-F238E27FC236}">
                  <a16:creationId xmlns:a16="http://schemas.microsoft.com/office/drawing/2014/main" id="{5E9A5056-5F0E-4BF8-8F30-9C86CBBA3FC4}"/>
                </a:ext>
              </a:extLst>
            </p:cNvPr>
            <p:cNvSpPr>
              <a:spLocks noGrp="1"/>
            </p:cNvSpPr>
            <p:nvPr/>
          </p:nvSpPr>
          <p:spPr>
            <a:xfrm>
              <a:off x="8620125" y="1876425"/>
              <a:ext cx="2324100" cy="428625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High data reuse</a:t>
              </a:r>
            </a:p>
          </p:txBody>
        </p:sp>
        <p:sp>
          <p:nvSpPr>
            <p:cNvPr id="11" name="Compute-intensive">
              <a:extLst>
                <a:ext uri="{FF2B5EF4-FFF2-40B4-BE49-F238E27FC236}">
                  <a16:creationId xmlns:a16="http://schemas.microsoft.com/office/drawing/2014/main" id="{3BB169C1-09AD-4EE7-8DD9-FCCCA22CD35E}"/>
                </a:ext>
              </a:extLst>
            </p:cNvPr>
            <p:cNvSpPr>
              <a:spLocks noGrp="1"/>
            </p:cNvSpPr>
            <p:nvPr/>
          </p:nvSpPr>
          <p:spPr>
            <a:xfrm>
              <a:off x="8620125" y="2371725"/>
              <a:ext cx="2324100" cy="428625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725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Compute-intensive</a:t>
              </a:r>
            </a:p>
          </p:txBody>
        </p:sp>
        <p:sp>
          <p:nvSpPr>
            <p:cNvPr id="12" name="Decode">
              <a:extLst>
                <a:ext uri="{FF2B5EF4-FFF2-40B4-BE49-F238E27FC236}">
                  <a16:creationId xmlns:a16="http://schemas.microsoft.com/office/drawing/2014/main" id="{6E4D47A9-D494-4145-9CA3-BECA5F605B6C}"/>
                </a:ext>
              </a:extLst>
            </p:cNvPr>
            <p:cNvSpPr>
              <a:spLocks noGrp="1"/>
            </p:cNvSpPr>
            <p:nvPr/>
          </p:nvSpPr>
          <p:spPr>
            <a:xfrm>
              <a:off x="1028700" y="3476625"/>
              <a:ext cx="1381125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2100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100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Decode</a:t>
              </a:r>
            </a:p>
          </p:txBody>
        </p:sp>
        <p:sp>
          <p:nvSpPr>
            <p:cNvPr id="13" name="Weights">
              <a:extLst>
                <a:ext uri="{FF2B5EF4-FFF2-40B4-BE49-F238E27FC236}">
                  <a16:creationId xmlns:a16="http://schemas.microsoft.com/office/drawing/2014/main" id="{97D21F39-C7E6-4E55-989C-27042E2276B1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4000500"/>
              <a:ext cx="2114550" cy="542925"/>
            </a:xfrm>
            <a:prstGeom prst="rect">
              <a:avLst/>
            </a:prstGeom>
            <a:solidFill>
              <a:srgbClr val="EAE2ED"/>
            </a:solidFill>
            <a:ln w="14288">
              <a:solidFill>
                <a:srgbClr val="343434"/>
              </a:solidFill>
            </a:ln>
          </p:spPr>
          <p:txBody>
            <a:bodyPr anchor="ctr">
              <a:noAutofit/>
            </a:bodyPr>
            <a:lstStyle/>
            <a:p>
              <a:pPr algn="ctr">
                <a:def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Weights</a:t>
              </a:r>
            </a:p>
          </p:txBody>
        </p:sp>
        <p:sp>
          <p:nvSpPr>
            <p:cNvPr id="14" name="Growing KV Cache">
              <a:extLst>
                <a:ext uri="{FF2B5EF4-FFF2-40B4-BE49-F238E27FC236}">
                  <a16:creationId xmlns:a16="http://schemas.microsoft.com/office/drawing/2014/main" id="{036B6AE0-A8B0-4425-9423-FC6DF5369E84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4857750"/>
              <a:ext cx="2114550" cy="542925"/>
            </a:xfrm>
            <a:prstGeom prst="rect">
              <a:avLst/>
            </a:prstGeom>
            <a:solidFill>
              <a:srgbClr val="EAE2ED"/>
            </a:solidFill>
            <a:ln w="14288">
              <a:solidFill>
                <a:srgbClr val="343434"/>
              </a:solidFill>
            </a:ln>
          </p:spPr>
          <p:txBody>
            <a:bodyPr anchor="ctr">
              <a:noAutofit/>
            </a:bodyPr>
            <a:lstStyle/>
            <a:p>
              <a:pPr algn="ctr">
                <a:def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Growing KV Cache</a:t>
              </a:r>
            </a:p>
          </p:txBody>
        </p:sp>
        <p:sp>
          <p:nvSpPr>
            <p:cNvPr id="15" name="GPU">
              <a:extLst>
                <a:ext uri="{FF2B5EF4-FFF2-40B4-BE49-F238E27FC236}">
                  <a16:creationId xmlns:a16="http://schemas.microsoft.com/office/drawing/2014/main" id="{189E49CC-2BEB-4968-827B-D5B835DB6097}"/>
                </a:ext>
              </a:extLst>
            </p:cNvPr>
            <p:cNvSpPr>
              <a:spLocks noGrp="1"/>
            </p:cNvSpPr>
            <p:nvPr/>
          </p:nvSpPr>
          <p:spPr>
            <a:xfrm>
              <a:off x="6115050" y="4000500"/>
              <a:ext cx="2266950" cy="1381125"/>
            </a:xfrm>
            <a:prstGeom prst="rect">
              <a:avLst/>
            </a:prstGeom>
            <a:solidFill>
              <a:srgbClr val="DFE9F1"/>
            </a:solidFill>
            <a:ln w="14288">
              <a:solidFill>
                <a:srgbClr val="343434"/>
              </a:solidFill>
            </a:ln>
          </p:spPr>
          <p:txBody>
            <a:bodyPr anchor="ctr">
              <a:noAutofit/>
            </a:bodyPr>
            <a:lstStyle/>
            <a:p>
              <a:pPr algn="ctr">
                <a:defRPr sz="1950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0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GPU</a:t>
              </a:r>
            </a:p>
          </p:txBody>
        </p:sp>
        <p:cxnSp>
          <p:nvCxnSpPr>
            <p:cNvPr id="38" name="连接符: 肘形 37"/>
            <p:cNvCxnSpPr>
              <a:stCxn id="13" idx="3"/>
              <a:endCxn id="15" idx="1"/>
            </p:cNvCxnSpPr>
            <p:nvPr/>
          </p:nvCxnSpPr>
          <p:spPr>
            <a:xfrm>
              <a:off x="4572000" y="4271963"/>
              <a:ext cx="1543050" cy="419100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CC9658"/>
              </a:solidFill>
              <a:tailEnd type="triangle" w="med" len="med"/>
            </a:ln>
          </p:spPr>
        </p:cxnSp>
        <p:cxnSp>
          <p:nvCxnSpPr>
            <p:cNvPr id="39" name="连接符: 肘形 38"/>
            <p:cNvCxnSpPr>
              <a:stCxn id="14" idx="3"/>
              <a:endCxn id="15" idx="1"/>
            </p:cNvCxnSpPr>
            <p:nvPr/>
          </p:nvCxnSpPr>
          <p:spPr>
            <a:xfrm flipV="1">
              <a:off x="4572000" y="4691063"/>
              <a:ext cx="1543050" cy="438150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CC9658"/>
              </a:solidFill>
              <a:tailEnd type="triangle" w="med" len="med"/>
            </a:ln>
          </p:spPr>
        </p:cxnSp>
        <p:sp>
          <p:nvSpPr>
            <p:cNvPr id="18" name="One Token">
              <a:extLst>
                <a:ext uri="{FF2B5EF4-FFF2-40B4-BE49-F238E27FC236}">
                  <a16:creationId xmlns:a16="http://schemas.microsoft.com/office/drawing/2014/main" id="{938FC343-0ACD-4D10-98F3-61E6BDA39D63}"/>
                </a:ext>
              </a:extLst>
            </p:cNvPr>
            <p:cNvSpPr>
              <a:spLocks noGrp="1"/>
            </p:cNvSpPr>
            <p:nvPr/>
          </p:nvSpPr>
          <p:spPr>
            <a:xfrm>
              <a:off x="9515475" y="4400550"/>
              <a:ext cx="1390650" cy="590550"/>
            </a:xfrm>
            <a:prstGeom prst="rect">
              <a:avLst/>
            </a:prstGeom>
            <a:solidFill>
              <a:srgbClr val="F2F3F4"/>
            </a:solidFill>
            <a:ln w="14288">
              <a:solidFill>
                <a:srgbClr val="343434"/>
              </a:solidFill>
            </a:ln>
          </p:spPr>
          <p:txBody>
            <a:bodyPr anchor="ctr">
              <a:noAutofit/>
            </a:bodyPr>
            <a:lstStyle/>
            <a:p>
              <a:pPr algn="ctr">
                <a:def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One Token</a:t>
              </a:r>
            </a:p>
          </p:txBody>
        </p:sp>
        <p:cxnSp>
          <p:nvCxnSpPr>
            <p:cNvPr id="41" name="直接箭头连接符 40"/>
            <p:cNvCxnSpPr>
              <a:stCxn id="15" idx="3"/>
              <a:endCxn id="18" idx="1"/>
            </p:cNvCxnSpPr>
            <p:nvPr/>
          </p:nvCxnSpPr>
          <p:spPr>
            <a:xfrm>
              <a:off x="8382000" y="4691063"/>
              <a:ext cx="1133475" cy="4763"/>
            </a:xfrm>
            <a:prstGeom prst="straightConnector1">
              <a:avLst/>
            </a:prstGeom>
            <a:ln w="16193">
              <a:solidFill>
                <a:srgbClr val="CC9658"/>
              </a:solidFill>
              <a:tailEnd type="triangle" w="med" len="med"/>
            </a:ln>
          </p:spPr>
        </p:cxnSp>
        <p:sp>
          <p:nvSpPr>
            <p:cNvPr id="20" name="KV grows / next token">
              <a:extLst>
                <a:ext uri="{FF2B5EF4-FFF2-40B4-BE49-F238E27FC236}">
                  <a16:creationId xmlns:a16="http://schemas.microsoft.com/office/drawing/2014/main" id="{87F74EEA-D7E8-460B-9E9A-AEA3D7FBFB0E}"/>
                </a:ext>
              </a:extLst>
            </p:cNvPr>
            <p:cNvSpPr>
              <a:spLocks noGrp="1"/>
            </p:cNvSpPr>
            <p:nvPr/>
          </p:nvSpPr>
          <p:spPr>
            <a:xfrm>
              <a:off x="6334125" y="5495925"/>
              <a:ext cx="3143250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57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KV grows / next token</a:t>
              </a:r>
            </a:p>
          </p:txBody>
        </p:sp>
        <p:sp>
          <p:nvSpPr>
            <p:cNvPr id="21" name="Repeated weight/KV reads">
              <a:extLst>
                <a:ext uri="{FF2B5EF4-FFF2-40B4-BE49-F238E27FC236}">
                  <a16:creationId xmlns:a16="http://schemas.microsoft.com/office/drawing/2014/main" id="{9D0DAFC2-3C36-4109-8823-55892F9ED212}"/>
                </a:ext>
              </a:extLst>
            </p:cNvPr>
            <p:cNvSpPr>
              <a:spLocks noGrp="1"/>
            </p:cNvSpPr>
            <p:nvPr/>
          </p:nvSpPr>
          <p:spPr>
            <a:xfrm>
              <a:off x="2286000" y="6162675"/>
              <a:ext cx="4381500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Repeated weight/KV reads</a:t>
              </a:r>
            </a:p>
          </p:txBody>
        </p:sp>
        <p:sp>
          <p:nvSpPr>
            <p:cNvPr id="22" name="Bandwidth-intensive">
              <a:extLst>
                <a:ext uri="{FF2B5EF4-FFF2-40B4-BE49-F238E27FC236}">
                  <a16:creationId xmlns:a16="http://schemas.microsoft.com/office/drawing/2014/main" id="{0E93B130-79AC-44FE-9B69-01A0ABEE9097}"/>
                </a:ext>
              </a:extLst>
            </p:cNvPr>
            <p:cNvSpPr>
              <a:spLocks noGrp="1"/>
            </p:cNvSpPr>
            <p:nvPr/>
          </p:nvSpPr>
          <p:spPr>
            <a:xfrm>
              <a:off x="7000875" y="6162675"/>
              <a:ext cx="3381375" cy="3619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725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>
                  <a:solidFill>
                    <a:srgbClr val="343434"/>
                  </a:solidFill>
                  <a:latin typeface="Times New Roman"/>
                  <a:ea typeface="Times New Roman"/>
                  <a:cs typeface="Times New Roman"/>
                </a:rPr>
                <a:t>Bandwidth-intensive</a:t>
              </a: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8C0233C9-311B-4566-88DE-7785C0648F09}"/>
                </a:ext>
              </a:extLst>
            </p:cNvPr>
            <p:cNvCxnSpPr/>
            <p:nvPr/>
          </p:nvCxnSpPr>
          <p:spPr>
            <a:xfrm>
              <a:off x="10210800" y="5000625"/>
              <a:ext cx="0" cy="885825"/>
            </a:xfrm>
            <a:prstGeom prst="straightConnector1">
              <a:avLst/>
            </a:prstGeom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34249DD3-B8C3-441F-85F5-393EF6B0D428}"/>
                </a:ext>
              </a:extLst>
            </p:cNvPr>
            <p:cNvCxnSpPr/>
            <p:nvPr/>
          </p:nvCxnSpPr>
          <p:spPr>
            <a:xfrm flipH="1">
              <a:off x="3514725" y="5886450"/>
              <a:ext cx="6696075" cy="0"/>
            </a:xfrm>
            <a:prstGeom prst="straightConnector1">
              <a:avLst/>
            </a:prstGeom>
            <a:ln w="12700">
              <a:solidFill>
                <a:srgbClr val="34343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600819F-871E-4C0A-94F5-E1AB6982EEDA}"/>
                </a:ext>
              </a:extLst>
            </p:cNvPr>
            <p:cNvCxnSpPr/>
            <p:nvPr/>
          </p:nvCxnSpPr>
          <p:spPr>
            <a:xfrm flipV="1">
              <a:off x="3514725" y="5400675"/>
              <a:ext cx="0" cy="485775"/>
            </a:xfrm>
            <a:prstGeom prst="straightConnector1">
              <a:avLst/>
            </a:prstGeom>
            <a:ln w="12700">
              <a:solidFill>
                <a:srgbClr val="34343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4153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DocSecurity>0</DocSecurity>
  <PresentationFormat>宽屏</PresentationFormat>
  <Paragraphs>32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成林 叶</cp:lastModifiedBy>
  <cp:revision>2</cp:revision>
  <dcterms:created xsi:type="dcterms:W3CDTF">2026-09-16T15:01:17Z</dcterms:created>
  <dcterms:modified xsi:type="dcterms:W3CDTF">2026-09-16T15:03:24Z</dcterms:modified>
</cp:coreProperties>
</file>